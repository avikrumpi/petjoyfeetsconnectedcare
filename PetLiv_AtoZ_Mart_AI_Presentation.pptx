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5400" b="1">
                <a:solidFill>
                  <a:srgbClr val="2563EB"/>
                </a:solidFill>
                <a:latin typeface="Poppins"/>
              </a:defRPr>
            </a:pPr>
            <a:r>
              <a:t>PetLiv AtoZ Mart AI</a:t>
            </a:r>
          </a:p>
          <a:p>
            <a:pPr>
              <a:defRPr sz="2400" b="0">
                <a:solidFill>
                  <a:srgbClr val="1E293B"/>
                </a:solidFill>
                <a:latin typeface="Poppins"/>
              </a:defRPr>
            </a:pPr>
            <a:r>
              <a:t>AI-Powered AtoZ Marketplace for Pets &amp; Livestock – Digitize, Connect, Care, and Thrive Pan-India.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5029200" cy="2011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Dedicated to Ethical Care:</a:t>
            </a:r>
          </a:p>
          <a:p>
            <a:pPr>
              <a:defRPr sz="1200" b="0">
                <a:solidFill>
                  <a:srgbClr val="1E293B"/>
                </a:solidFill>
                <a:latin typeface="Poppins"/>
              </a:defRPr>
            </a:pPr>
            <a:r>
              <a:t>We deliver happiness through loving connections, not sales.</a:t>
            </a:r>
            <a:br/>
            <a:r>
              <a:t>PetLiv strictly avoids selling/prescribing medicines, influencing clinical decisions, or enabling animal bidding. Our sole purpose is to enable trusted, ethical care for all Pet Parents and Livestock Caregivers.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F97316"/>
                </a:solidFill>
                <a:latin typeface="Poppins"/>
              </a:defRPr>
            </a:pPr>
            <a:r>
              <a:t>The Challenge</a:t>
            </a:r>
          </a:p>
          <a:p>
            <a:br/>
            <a:pPr>
              <a:spcBef>
                <a:spcPts val="2000"/>
              </a:spcBef>
              <a:defRPr sz="2000" b="1">
                <a:solidFill>
                  <a:srgbClr val="2563EB"/>
                </a:solidFill>
                <a:latin typeface="Poppins"/>
              </a:defRPr>
            </a:pPr>
            <a:r>
              <a:t>Let's Dive Deep.. 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</a:p>
          <a:p>
            <a:pPr>
              <a:defRPr sz="2400" b="0">
                <a:solidFill>
                  <a:srgbClr val="1E293B"/>
                </a:solidFill>
                <a:latin typeface="Poppins"/>
              </a:defRPr>
            </a:pPr>
            <a:r>
              <a:t>"Most Indian pet and livestock families face fragmented care, paperwork-heavy schemes, and poor digitization, blocking trusted vets, products, and benefits."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9144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9 Critical Ground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Unified Digital Records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78% lack records. Repeat diagnostics cost ₹8K/yr.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Offline &amp; Invisible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97% livestock undigitized.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Vet Access Barrier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1:5,000 ratio. 45-min emergency waits.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One-Stop Marketplace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15+ apps needed. 3-5 hours wasted weekly.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47472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Counterfeit Supply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30% fake meds cause 20% mortality.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47472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Treatment Abandonment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55% miss doses. ₹15K Cr losses.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Govt Scheme Access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&lt;20% tap funds due to paperwork.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12064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Rural Voice Exclusion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70% rural women excluded by English apps.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120640"/>
            <a:ext cx="3657600" cy="1371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2000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Language Gap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90% content English-only.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400" b="1">
                <a:solidFill>
                  <a:srgbClr val="06B6D4"/>
                </a:solidFill>
                <a:latin typeface="Poppins"/>
              </a:defRPr>
            </a:pPr>
            <a:r>
              <a:t>Why Now? The Urgency of Converging Deadlines</a:t>
            </a:r>
          </a:p>
          <a:p>
            <a:pPr algn="ctr">
              <a:defRPr sz="2400" b="0">
                <a:solidFill>
                  <a:srgbClr val="FFFFFF"/>
                </a:solidFill>
                <a:latin typeface="Poppins"/>
              </a:defRPr>
            </a:pPr>
            <a:r>
              <a:t>A perfect storm of government mandates (NDLM), explosive market growth (Pet Boom), and technological readiness (Agentic AI) creates a **must-act window** for digital disruption.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6 Critical Reasons for Immediate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2563EB"/>
                </a:solidFill>
                <a:latin typeface="Poppins"/>
              </a:defRPr>
            </a:pPr>
            <a:r>
              <a:t>NDLM Mandate &amp; Compliance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100% ID by 2026. 574M animals risk missing DBT.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F97316"/>
                </a:solidFill>
                <a:latin typeface="Poppins"/>
              </a:defRPr>
            </a:pPr>
            <a:r>
              <a:t>Govt Funding Rush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₹10K Cr unutilized funds. Window closing.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06B6D4"/>
                </a:solidFill>
                <a:latin typeface="Poppins"/>
              </a:defRPr>
            </a:pPr>
            <a:r>
              <a:t>Explosive Pet Boom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20% CAGR to ₹60K Cr by 2028.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22C55E"/>
                </a:solidFill>
                <a:latin typeface="Poppins"/>
              </a:defRPr>
            </a:pPr>
            <a:r>
              <a:t>Disease Outbreak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Surveillance gap demands AI prediction.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114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8B5CF6"/>
                </a:solidFill>
                <a:latin typeface="Poppins"/>
              </a:defRPr>
            </a:pPr>
            <a:r>
              <a:t>Rural Digital Leap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Capture 97% offline via voice-AI now.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114800"/>
            <a:ext cx="365760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 b="1">
                <a:solidFill>
                  <a:srgbClr val="EF4444"/>
                </a:solidFill>
                <a:latin typeface="Poppins"/>
              </a:defRPr>
            </a:pPr>
            <a:r>
              <a:t>Zoonotic Risk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One Health integration urgently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Hybrid-Enabled Solutions Architecture</a:t>
            </a:r>
          </a:p>
          <a:p>
            <a:pPr>
              <a:defRPr sz="2400" b="0">
                <a:solidFill>
                  <a:srgbClr val="1E293B"/>
                </a:solidFill>
                <a:latin typeface="Poppins"/>
              </a:defRPr>
            </a:pPr>
            <a:r>
              <a:t>Synergizing Physical Infrastructure with Digital Intelligence to Transform Animal Care.</a:t>
            </a:r>
          </a:p>
          <a:p>
            <a:br/>
            <a:pPr>
              <a:defRPr sz="2000" b="1">
                <a:solidFill>
                  <a:srgbClr val="06B6D4"/>
                </a:solidFill>
                <a:latin typeface="Poppins"/>
              </a:defRPr>
            </a:pPr>
            <a:r>
              <a:t>Leveraging Agentic AI, ML &amp; Digitization to bridge the last-mile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10 Impactful Categories for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1. Agentic AI Triage &amp; Remote Care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Delivers autonomous 22-language triage, urgency detection, and seamless vet escalation with proactive follow-ups.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2. ABDM-Compliant Digital Health Spine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Creates secure digital IDs with OCR/voice capture linking treatments, vaccines, and health history nationwide.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3. AtoZ Marketplace &amp; AI Counterfeit Shield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Authenticates products, detects counterfeit patterns, scores vendors, and ensures safe medicine/feed distribution.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4. Hybrid Mobile Vans &amp; Diagnostics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Provides AI-routed vans for X-ray, USG, labs, and home vaccinations across underserved regions.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6928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5. Clinic OS &amp; Revenue Intelligence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Unifies queues, billing, tele-vet, labs, inventory, and real-time performance dashboards.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6. Smart Supply Chain &amp; Auto-Replenishment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Predicts demand, triggers auto-restocking, authenticates suppliers, and optimizes last-mile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7. Subsidy, DBT &amp; Welfare Intelligence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Auto-matches eligibility, files claims, issues eVouchers, and links subsidies to nutrition and disease prevention.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8. Women-First Voice AI Companion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Provides voice-only guidance in 22 Indic languages for livestock health, breeding, first-aid, and nutrition.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6344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9. Predictive Wellness &amp; Carbon Intel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Predicts diseases, models methane reduction, and qualifies livestock for carbon credit benefits.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669280"/>
            <a:ext cx="5486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10. Community Safety &amp; Rehoming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Uses facial recognition, geo-alerts, and verified workflows to connect lost pets and enable safe adoptions.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Our North Star</a:t>
            </a:r>
          </a:p>
          <a:p>
            <a:pPr>
              <a:defRPr sz="2400" b="1">
                <a:solidFill>
                  <a:srgbClr val="2563EB"/>
                </a:solidFill>
                <a:latin typeface="Poppins"/>
              </a:defRPr>
            </a:pPr>
            <a:r>
              <a:t>Vision</a:t>
            </a:r>
          </a:p>
          <a:p>
            <a:pPr>
              <a:defRPr sz="1800" b="0">
                <a:solidFill>
                  <a:srgbClr val="1E293B"/>
                </a:solidFill>
                <a:latin typeface="Poppins"/>
              </a:defRPr>
            </a:pPr>
            <a:r>
              <a:t>A trusted, AI-powered AtoZ companion for every Indian pet and livestock family, safeguarding health, livelihoods, and happiness.</a:t>
            </a:r>
            <a:br/>
          </a:p>
          <a:p>
            <a:pPr>
              <a:defRPr sz="2400" b="1">
                <a:solidFill>
                  <a:srgbClr val="06B6D4"/>
                </a:solidFill>
                <a:latin typeface="Poppins"/>
              </a:defRPr>
            </a:pPr>
            <a:r>
              <a:t>Mission</a:t>
            </a:r>
          </a:p>
          <a:p>
            <a:pPr>
              <a:defRPr sz="1800" b="0">
                <a:solidFill>
                  <a:srgbClr val="1E293B"/>
                </a:solidFill>
                <a:latin typeface="Poppins"/>
              </a:defRPr>
            </a:pPr>
            <a:r>
              <a:t>Digitize, connect, and empower care journeys with tele-vet, mobile diagnostics, and a transparent, affordable marketplace.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Our Core 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576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0000"/>
          <a:lstStyle/>
          <a:p>
            <a:pPr algn="ctr"/>
          </a:p>
          <a:p>
            <a:pPr algn="ctr">
              <a:defRPr sz="2400" b="1">
                <a:solidFill>
                  <a:srgbClr val="2563EB"/>
                </a:solidFill>
                <a:latin typeface="Poppins"/>
              </a:defRPr>
            </a:pPr>
            <a:r>
              <a:t>Who We Are</a:t>
            </a:r>
          </a:p>
          <a:p>
            <a:pPr algn="ctr">
              <a:defRPr sz="1600" b="0">
                <a:solidFill>
                  <a:srgbClr val="1E293B"/>
                </a:solidFill>
                <a:latin typeface="Poppins"/>
              </a:defRPr>
            </a:pPr>
            <a:r>
              <a:t>A purpose-driven health-tech company uniting vets, data, and marketplaces for India’s pets and livestock.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6576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0000"/>
          <a:lstStyle/>
          <a:p>
            <a:pPr algn="ctr"/>
          </a:p>
          <a:p>
            <a:pPr algn="ctr">
              <a:defRPr sz="2400" b="1">
                <a:solidFill>
                  <a:srgbClr val="06B6D4"/>
                </a:solidFill>
                <a:latin typeface="Poppins"/>
              </a:defRPr>
            </a:pPr>
            <a:r>
              <a:t>What We Do</a:t>
            </a:r>
          </a:p>
          <a:p>
            <a:pPr algn="ctr">
              <a:defRPr sz="1600" b="0">
                <a:solidFill>
                  <a:srgbClr val="1E293B"/>
                </a:solidFill>
                <a:latin typeface="Poppins"/>
              </a:defRPr>
            </a:pPr>
            <a:r>
              <a:t>Provide AI triage, remote care, and curated services so families access the right expert, product, or subsidy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86000"/>
            <a:ext cx="36576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0000"/>
          <a:lstStyle/>
          <a:p>
            <a:pPr algn="ctr"/>
          </a:p>
          <a:p>
            <a:pPr algn="ctr">
              <a:defRPr sz="2400" b="1">
                <a:solidFill>
                  <a:srgbClr val="F97316"/>
                </a:solidFill>
                <a:latin typeface="Poppins"/>
              </a:defRPr>
            </a:pPr>
            <a:r>
              <a:t>Why We Do It</a:t>
            </a:r>
          </a:p>
          <a:p>
            <a:pPr algn="ctr">
              <a:defRPr sz="1600" b="0">
                <a:solidFill>
                  <a:srgbClr val="1E293B"/>
                </a:solidFill>
                <a:latin typeface="Poppins"/>
              </a:defRPr>
            </a:pPr>
            <a:r>
              <a:t>To remove distance, distrust, and complexity, turning every animal interaction into safer care, fair value, and dignity for owners.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The PetLiv Promise</a:t>
            </a:r>
          </a:p>
          <a:p>
            <a:pPr>
              <a:defRPr sz="2400" b="0">
                <a:solidFill>
                  <a:srgbClr val="1E293B"/>
                </a:solidFill>
                <a:latin typeface="Poppins"/>
              </a:defRPr>
            </a:pPr>
            <a:r>
              <a:t>"AI-powered tele-vet, mobile diagnostics, and trusted marketplace give every Indian pet and livestock parent affordable, best-in-class care, products, and lifelong digital confidence."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10 Ground Problem Transformations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Unified Records → Zero Repeat Diagnostics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"Turn scattered animal histories into a single intelligent health identity."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One-Stop Marketplace → 3-Hour Weekly Savings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"Replace 15 fragmented apps with one trusted commerce ecosystem."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F97316"/>
                </a:solidFill>
                <a:latin typeface="Poppins"/>
              </a:defRPr>
            </a:pPr>
            <a:r>
              <a:t>Counterfeit Shield → 20% Mortality Cut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"AI that protects every animal from fake medicines and toxic feed."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22C55E"/>
                </a:solidFill>
                <a:latin typeface="Poppins"/>
              </a:defRPr>
            </a:pPr>
            <a:r>
              <a:t>Auto-Reminders → 55% Abandonment Eliminated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"Never miss a dose again—AI ensures treatments finish, every time."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9496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Subsidy Engine → ₹10K Cr Unlocked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"Bring government benefits to every farmer with one automated tap."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Women Voice AI → 3X Rural Retention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"Empower rural women caregivers with hands-free, language-first AI."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F97316"/>
                </a:solidFill>
                <a:latin typeface="Poppins"/>
              </a:defRPr>
            </a:pPr>
            <a:r>
              <a:t>Offline Digitization → 97% AI Visibility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"Digitize every animal instantly—any paper, any phone, anywhere."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8328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22C55E"/>
                </a:solidFill>
                <a:latin typeface="Poppins"/>
              </a:defRPr>
            </a:pPr>
            <a:r>
              <a:t>Mobile Vet Network → 60% Emergency Saves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"AI-routed medical vans that deliver life-saving care to every village."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891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Multilingual Content → 75% Inclusion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"Make expert livestock knowledge speak every Indian language."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39496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Carbon Intelligence → Green Finance Access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"Turn healthier livestock into carbon credits and climate rewards."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Existing System vs. Future With PetLiv AtoZ Mart 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Existing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Future With PetLiv AtoZ Mart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Unified Digital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78% livestock &amp; 38M pets lack digital IDs; repeat diagnostics increase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ABDM-compliant digital IDs with OCR/voice capture; 97% digitization saves ₹8K/animal/year.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One-Stop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Owners use 15+ fragmented apps; 3–5 hours/week wasted searching services.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Unified marketplace with 10K+ verified vendors; instant geo-matched bookings for all needs.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Counterfeit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30% fake meds/feed cause 20% mortality in ₹15K Cr industry.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 counterfeit detection + blockchain traceability ensuring full authenticity &amp; safety.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Treatment Abandonment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55% owners miss doses; ₹15K Cr annual losses due to incomplete treatments.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ML-driven personalized reminders achieve 98.4% treatment completion.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Govt Scheme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&lt;20% access ₹10K Cr AHIDF/NLM subsidies due to paperwork complexity.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 eligibility-matching, auto-filing &amp; eVouchers boost utilization to 85%.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Rural Voice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70% low-literacy rural women excluded by English-only apps.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Voice-first 22-language Indic LLM increases rural retention 3X.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Offline Livestock &amp;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97% livestock &amp; 60% rural pets undigitized; invisible to AI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Pan-India ABDM ID coverage enabling real-time tracking for 574M animals.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Vet Access 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1:5000 vet ratio; long travel &amp; 45-min waits cause 60% emergency deaths.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Agentic AI triage under 4 min; tele-vet escalation + mobile vans with 95% utilization.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Language Content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90% content English-only, excluding 75% of native-language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22-language knowledge hub + multilingual AI triage expanding inclusive access.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Market Opportunity &amp; Growth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2000" b="1">
                <a:solidFill>
                  <a:srgbClr val="1E293B"/>
                </a:solidFill>
                <a:latin typeface="Poppins"/>
              </a:defRPr>
            </a:pPr>
            <a:r>
              <a:t>TAM, SAM, SOM Growth Chart Placeholder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0F9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Regional Split &amp; Key Drivers</a:t>
            </a:r>
          </a:p>
          <a:p>
            <a:pPr>
              <a:defRPr sz="1200" b="0">
                <a:solidFill>
                  <a:srgbClr val="1E293B"/>
                </a:solidFill>
                <a:latin typeface="Poppins"/>
              </a:defRPr>
            </a:pPr>
            <a:r>
              <a:t>North (35%), South (25%), West (20%), East (15%)</a:t>
            </a:r>
            <a:br/>
            <a:r>
              <a:t>Drivers: Pet Humanization, NDLM, Carbon Credits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114800"/>
            <a:ext cx="347472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Growth Drivers: 20% Pet CAGR, NDLM 11.7% CAGR, AI Supply Chain.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Revenue Model: Sustainable Growth Engines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Marketplace Commissions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Fees from vendors on transactions.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Payment &amp; Fraud 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Clinic OS SaaS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Subscription for clinic management and analytics dashboards.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Cloud Infra &amp; 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Vendor Subscriptions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Premium listings, counterfeit protection, and inventory tools.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Support &amp; 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Subsidy Processing Fees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Processing government subsidies and eVoucher distribution.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Compliance &amp;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Supply Chain Logistics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Fees for 24-hr rural delivery and AI-driven forecasting.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Last-Mile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Premium Analytics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Subscription for multi-species health dashboards and carbon credit insights.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Data Modeling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54864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Mobile Vet Network</a:t>
            </a:r>
          </a:p>
          <a:p>
            <a:pPr>
              <a:defRPr sz="1100" b="0">
                <a:solidFill>
                  <a:srgbClr val="1E293B"/>
                </a:solidFill>
                <a:latin typeface="Poppins"/>
              </a:defRPr>
            </a:pPr>
            <a:r>
              <a:t>Service fees from mobile diagnostic van operations (X-ray, USG, Labs).</a:t>
            </a:r>
          </a:p>
          <a:p>
            <a:pPr>
              <a:defRPr sz="1000" b="0">
                <a:solidFill>
                  <a:srgbClr val="64748B"/>
                </a:solidFill>
                <a:latin typeface="Poppins"/>
              </a:defRPr>
            </a:pPr>
            <a:r>
              <a:t>Cost Driver: Van Maintenance &amp; Staffing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Overall GTM Strategy &amp; Phased Rollout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2563EB"/>
                </a:solidFill>
                <a:latin typeface="Poppins"/>
              </a:defRPr>
            </a:pPr>
            <a:r>
              <a:t>B2B2C Model: Win Intermediaries to Onboard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Urban Pet GTM</a:t>
            </a:r>
          </a:p>
          <a:p>
            <a:pPr>
              <a:defRPr sz="1200" b="0">
                <a:solidFill>
                  <a:srgbClr val="1E293B"/>
                </a:solidFill>
                <a:latin typeface="Poppins"/>
              </a:defRPr>
            </a:pPr>
            <a:r>
              <a:t>Clinic-first onboarding, co-branded offers, free AI Triage.</a:t>
            </a:r>
          </a:p>
          <a:p/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Rural Livestock GTM</a:t>
            </a:r>
          </a:p>
          <a:p>
            <a:pPr>
              <a:defRPr sz="1200" b="0">
                <a:solidFill>
                  <a:srgbClr val="1E293B"/>
                </a:solidFill>
                <a:latin typeface="Poppins"/>
              </a:defRPr>
            </a:pPr>
            <a:r>
              <a:t>Voice-first onboarding via FPOs/SHGs, NDLM integration.</a:t>
            </a:r>
          </a:p>
          <a:p/>
          <a:p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Institutional GTM</a:t>
            </a:r>
          </a:p>
          <a:p>
            <a:pPr>
              <a:defRPr sz="1200" b="0">
                <a:solidFill>
                  <a:srgbClr val="1E293B"/>
                </a:solidFill>
                <a:latin typeface="Poppins"/>
              </a:defRPr>
            </a:pPr>
            <a:r>
              <a:t>Position as NDLM private innovation layer, pilot subsidy auto-claims.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217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06B6D4"/>
                </a:solidFill>
                <a:latin typeface="Poppins"/>
              </a:defRPr>
            </a:pPr>
            <a:r>
              <a:t>Technology Readiness &amp; Expansion Roadmap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65760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563EB"/>
                </a:solidFill>
                <a:latin typeface="Poppins"/>
              </a:defRPr>
            </a:pPr>
            <a:r>
              <a:t>Phase 1: Pilot &amp; Validate (TRL 7)</a:t>
            </a:r>
          </a:p>
          <a:p>
            <a:pPr>
              <a:defRPr sz="1000" b="0">
                <a:solidFill>
                  <a:srgbClr val="1E293B"/>
                </a:solidFill>
                <a:latin typeface="Poppins"/>
              </a:defRPr>
            </a:pPr>
            <a:r>
              <a:t>Bengaluru Urban (Pet) &amp; Birbhum (Livestock). Validate Triage, Digital ID, Clinic OS MVP.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50292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846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Phase 2: Deepen &amp; Scale (TRL 8)</a:t>
            </a:r>
          </a:p>
          <a:p>
            <a:pPr>
              <a:defRPr sz="1000" b="0">
                <a:solidFill>
                  <a:srgbClr val="1E293B"/>
                </a:solidFill>
                <a:latin typeface="Poppins"/>
              </a:defRPr>
            </a:pPr>
            <a:r>
              <a:t>Expand to 3+ cities. Launch Mobile Vans and Marketplace logistics. Deepen Govt collaboration.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640080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6217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97316"/>
                </a:solidFill>
                <a:latin typeface="Poppins"/>
              </a:defRPr>
            </a:pPr>
            <a:r>
              <a:t>Phase 3: Nationwide Expansion (TRL 9)</a:t>
            </a:r>
          </a:p>
          <a:p>
            <a:pPr>
              <a:defRPr sz="1000" b="0">
                <a:solidFill>
                  <a:srgbClr val="1E293B"/>
                </a:solidFill>
                <a:latin typeface="Poppins"/>
              </a:defRPr>
            </a:pPr>
            <a:r>
              <a:t>State-wise expansion. Full integration of Carbon Intelligence and institutional SaaS ecosystem.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Focused Pilot Launch Strategy (Phase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563EB"/>
                </a:solidFill>
                <a:latin typeface="Poppins"/>
              </a:defRPr>
            </a:pPr>
            <a:r>
              <a:t>Bengaluru Urban (Pet-Focused Pilot)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Positioning: “Free AI vet triage and digital health IDs for all pets; smarter clinics and trusted marketplace.”</a:t>
            </a:r>
          </a:p>
          <a:p>
            <a:br/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Key Partners: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1. 10–20 Clinics (Koramangala, Whitefield, etc.)</a:t>
            </a:r>
            <a:br/>
            <a:r>
              <a:t>2. 20–30 Pet Vendors (Shops, groomers, trainers)</a:t>
            </a:r>
          </a:p>
          <a:p>
            <a:br/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GTM Tactics: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— Deploy Clinic OS (Queue, Tele-vet) in pilot clinics.</a:t>
            </a:r>
            <a:br/>
            <a:r>
              <a:t>— In-clinic assets: standees, QR posters, Rx slips.</a:t>
            </a:r>
            <a:br/>
            <a:r>
              <a:t>— Offer free triage and digital records to all walk-in pet parents.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563EB"/>
                </a:solidFill>
                <a:latin typeface="Poppins"/>
              </a:defRPr>
            </a:pPr>
            <a:r>
              <a:t>Birbhum, West Bengal (Livestock-Focused Pilot)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Positioning: “Empowering farmers with voice-AI care, instant subsidy access, and connected veterinary support.”</a:t>
            </a:r>
          </a:p>
          <a:p>
            <a:br/>
            <a:pPr>
              <a:defRPr sz="1600" b="1">
                <a:solidFill>
                  <a:srgbClr val="06B6D4"/>
                </a:solidFill>
                <a:latin typeface="Poppins"/>
              </a:defRPr>
            </a:pPr>
            <a:r>
              <a:t>Key Partners: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1. 5–10 FPOs/Co-ops &amp; SHG networks</a:t>
            </a:r>
            <a:br/>
            <a:r>
              <a:t>2. State AH Dept for vaccination drives</a:t>
            </a:r>
            <a:br/>
            <a:r>
              <a:t>3. Local Paravets (Pashu Sakhis) as ground agents</a:t>
            </a:r>
          </a:p>
          <a:p>
            <a:br/>
            <a:pPr>
              <a:defRPr sz="1600" b="1">
                <a:solidFill>
                  <a:srgbClr val="F97316"/>
                </a:solidFill>
                <a:latin typeface="Poppins"/>
              </a:defRPr>
            </a:pPr>
            <a:r>
              <a:t>GTM Tactics: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— Voice-first onboarding via Indic LLM bot (Bengali).</a:t>
            </a:r>
            <a:br/>
            <a:r>
              <a:t>— Camp activation: Village meetings &amp; vaccination camps.</a:t>
            </a:r>
            <a:br/>
            <a:r>
              <a:t>— Incentives for Pashu Sakhis per animal registration.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Strategic Capital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2563EB"/>
                </a:solidFill>
                <a:latin typeface="Poppins"/>
              </a:defRPr>
            </a:pPr>
            <a:r>
              <a:t>Funding Request</a:t>
            </a:r>
          </a:p>
          <a:p>
            <a:pPr>
              <a:defRPr sz="4800" b="1">
                <a:solidFill>
                  <a:srgbClr val="2563EB"/>
                </a:solidFill>
                <a:latin typeface="Poppins"/>
              </a:defRPr>
            </a:pPr>
            <a:r>
              <a:t>₹5 Crore</a:t>
            </a:r>
          </a:p>
          <a:p>
            <a:pPr>
              <a:defRPr sz="1800" b="0">
                <a:solidFill>
                  <a:srgbClr val="1E293B"/>
                </a:solidFill>
                <a:latin typeface="Poppins"/>
              </a:defRPr>
            </a:pPr>
            <a:r>
              <a:t>To fuel Phase 1 Pilot &amp; Platform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943600" cy="5029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 b="1">
                <a:solidFill>
                  <a:srgbClr val="2563EB"/>
                </a:solidFill>
                <a:latin typeface="Poppins"/>
              </a:defRPr>
            </a:pPr>
            <a:r>
              <a:t>Use of Funds (Visualized)</a:t>
            </a:r>
          </a:p>
          <a:p>
            <a:r>
              <a:rPr b="1" sz="1400">
                <a:solidFill>
                  <a:srgbClr val="2563EB"/>
                </a:solidFill>
              </a:rPr>
              <a:t>20% Sales, Marketing &amp; Distribution</a:t>
            </a:r>
          </a:p>
          <a:p>
            <a:r>
              <a:rPr b="1" sz="1400">
                <a:solidFill>
                  <a:srgbClr val="06B6D4"/>
                </a:solidFill>
              </a:rPr>
              <a:t>20% Marketplace Onboarding &amp; Vendor Success</a:t>
            </a:r>
          </a:p>
          <a:p>
            <a:r>
              <a:rPr b="1" sz="1400">
                <a:solidFill>
                  <a:srgbClr val="F97316"/>
                </a:solidFill>
              </a:rPr>
              <a:t>20% Product Development &amp; Engineering</a:t>
            </a:r>
          </a:p>
          <a:p>
            <a:r>
              <a:rPr b="1" sz="1400">
                <a:solidFill>
                  <a:srgbClr val="22C55E"/>
                </a:solidFill>
              </a:rPr>
              <a:t>10% Pet &amp; Livestock Onboarding Programs</a:t>
            </a:r>
          </a:p>
          <a:p>
            <a:r>
              <a:rPr b="1" sz="1400">
                <a:solidFill>
                  <a:srgbClr val="8B5CF6"/>
                </a:solidFill>
              </a:rPr>
              <a:t>10% Cloud Infrastructure &amp; Maintenance</a:t>
            </a:r>
          </a:p>
          <a:p>
            <a:r>
              <a:rPr b="1" sz="1400">
                <a:solidFill>
                  <a:srgbClr val="EAB308"/>
                </a:solidFill>
              </a:rPr>
              <a:t>10% AI/ML Data &amp; Research</a:t>
            </a:r>
          </a:p>
          <a:p>
            <a:r>
              <a:rPr b="1" sz="1400">
                <a:solidFill>
                  <a:srgbClr val="64748B"/>
                </a:solidFill>
              </a:rPr>
              <a:t>10% Operations, Compliance &amp; Misc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Core Assumptions: High-Growth Scale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Parents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Partners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1,800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3,600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7,200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13716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6B6D4"/>
                </a:solidFill>
                <a:latin typeface="Poppins"/>
              </a:defRPr>
            </a:pPr>
            <a:r>
              <a:t>Revenue Mechanics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Txn Frequency: 10 Paid Txns / Year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Marketplace Fee: ₹10 per Txn (Provider Paid)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SaaS Subscription: ₹1,000 / Month / Partner</a:t>
            </a:r>
          </a:p>
          <a:p>
            <a:br/>
            <a:pPr>
              <a:defRPr sz="2000" b="1">
                <a:solidFill>
                  <a:srgbClr val="F97316"/>
                </a:solidFill>
                <a:latin typeface="Poppins"/>
              </a:defRPr>
            </a:pPr>
            <a:r>
              <a:t>Operating Expenses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- 2026 Build Phase (Capex): ₹5.0 Cr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- 2027 OpEx Base: ₹1.50 Cr</a:t>
            </a:r>
          </a:p>
          <a:p>
            <a:pPr>
              <a:defRPr sz="1400" b="0">
                <a:solidFill>
                  <a:srgbClr val="1E293B"/>
                </a:solidFill>
                <a:latin typeface="Poppins"/>
              </a:defRPr>
            </a:pPr>
            <a:r>
              <a:t>- OpEx Growth Rate: 10% YoY (Lean Scaling)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63EB"/>
                </a:solidFill>
                <a:latin typeface="Poppins"/>
              </a:defRPr>
            </a:pPr>
            <a:r>
              <a:t>Financial Projections (2027 - 2030)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2028 (Ops Breakeven)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Marketplace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₹5.0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₹10.0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₹20.0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₹40.0 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SaaS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₹1.08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₹2.16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₹4.32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₹8.64 Cr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t>₹1.13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t>₹2.26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t>₹4.52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/>
                      </a:pPr>
                      <a:r>
                        <a:t>₹9.04 Cr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Total OpEx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₹1.50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₹1.65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₹1.82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₹2.00 Cr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EF4444"/>
                          </a:solidFill>
                        </a:defRPr>
                      </a:pPr>
                      <a:r>
                        <a:t>-₹37.0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+₹61.0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+₹2.71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+₹7.04 Cr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4114800"/>
            <a:ext cx="3504895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 b="1">
                <a:solidFill>
                  <a:srgbClr val="2563EB"/>
                </a:solidFill>
                <a:latin typeface="Poppins"/>
              </a:defRPr>
            </a:pPr>
            <a:r>
              <a:t>Operational Breakeven</a:t>
            </a:r>
          </a:p>
          <a:p>
            <a:pPr algn="ctr">
              <a:defRPr sz="4000" b="1">
                <a:solidFill>
                  <a:srgbClr val="2563EB"/>
                </a:solidFill>
                <a:latin typeface="Poppins"/>
              </a:defRPr>
            </a:pPr>
            <a:r>
              <a:t>2028</a:t>
            </a:r>
          </a:p>
          <a:p>
            <a:pPr algn="ctr">
              <a:defRPr sz="1200" b="0">
                <a:solidFill>
                  <a:srgbClr val="1E293B"/>
                </a:solidFill>
                <a:latin typeface="Poppins"/>
              </a:defRPr>
            </a:pPr>
            <a:r>
              <a:t>Achieved in second commercial year.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>
          <p:nvSpPr>
            <p:cNvPr id="6" name="Rounded Rectangle 5"/>
            <p:cNvSpPr/>
            <p:nvPr/>
          </p:nvSpPr>
          <p:spPr>
            <a:xfrm>
              <a:off x="365760" y="228600"/>
              <a:ext cx="384048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Pr>
          <a:xfrm>
            <a:off x="0" y="0"/>
            <a:ext cx="4063898" cy="1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0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 lIns="180000" tIns="72000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Aavaaya HealthCare Pvt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67052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2563EB"/>
                </a:solidFill>
                <a:latin typeface="Poppins"/>
              </a:defRPr>
            </a:pPr>
            <a:r>
              <a:t>Thank You</a:t>
            </a:r>
          </a:p>
          <a:p>
            <a:pPr algn="ctr">
              <a:defRPr sz="2400" b="0">
                <a:solidFill>
                  <a:srgbClr val="1E293B"/>
                </a:solidFill>
                <a:latin typeface="Poppins"/>
              </a:defRPr>
            </a:pPr>
            <a:r>
              <a:t>Let's Build the Future of Animal Care Together.</a:t>
            </a:r>
          </a:p>
          <a:p>
            <a:br/>
            <a:pPr algn="ctr">
              <a:defRPr sz="1800" b="0">
                <a:solidFill>
                  <a:srgbClr val="F97316"/>
                </a:solidFill>
                <a:latin typeface="Poppins"/>
              </a:defRPr>
            </a:pPr>
            <a:r>
              <a:t>contact@aavaayahealthcare.com | www.petliv.ai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